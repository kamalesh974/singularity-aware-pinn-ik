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" dt="2026-08-16T10:29:04.614"/>
    <p1510:client id="{8E11A8F9-D5D6-7E8B-F899-5DC99A1D3C36}" v="290" dt="2026-08-16T15:12:15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 autoAdjust="0"/>
    <p:restoredTop sz="94610"/>
  </p:normalViewPr>
  <p:slideViewPr>
    <p:cSldViewPr snapToGrid="0" snapToObjects="1">
      <p:cViewPr>
        <p:scale>
          <a:sx n="97" d="100"/>
          <a:sy n="97" d="100"/>
        </p:scale>
        <p:origin x="-53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1E2761"/>
                </a:solidFill>
                <a:latin typeface="Arial"/>
              </a:rPr>
              <a:t>How Far the Predicted Hand Is From the Target, Over Training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Position error (mm)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145.44</c:v>
                </c:pt>
                <c:pt idx="1">
                  <c:v>98.97</c:v>
                </c:pt>
                <c:pt idx="2">
                  <c:v>72.41</c:v>
                </c:pt>
                <c:pt idx="3">
                  <c:v>59.68</c:v>
                </c:pt>
                <c:pt idx="4">
                  <c:v>55.64</c:v>
                </c:pt>
                <c:pt idx="5">
                  <c:v>49.32</c:v>
                </c:pt>
                <c:pt idx="6">
                  <c:v>44.5</c:v>
                </c:pt>
                <c:pt idx="7">
                  <c:v>42.96</c:v>
                </c:pt>
                <c:pt idx="8">
                  <c:v>40.06</c:v>
                </c:pt>
                <c:pt idx="9">
                  <c:v>40.1</c:v>
                </c:pt>
                <c:pt idx="10">
                  <c:v>40.200000000000003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CF71-428C-B73F-CE5B847433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985664"/>
        <c:axId val="183987584"/>
      </c:lineChart>
      <c:catAx>
        <c:axId val="183985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183987584"/>
        <c:crosses val="autoZero"/>
        <c:auto val="1"/>
        <c:lblAlgn val="ctr"/>
        <c:lblOffset val="100"/>
        <c:noMultiLvlLbl val="1"/>
      </c:catAx>
      <c:valAx>
        <c:axId val="18398758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183985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Distance to Target (mm)
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Distance to target (mm)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Our AI Model</c:v>
                </c:pt>
                <c:pt idx="1">
                  <c:v>Classical Method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32.69</c:v>
                </c:pt>
                <c:pt idx="1">
                  <c:v>0.47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56D-4067-9AF5-40E8F3486F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4312960"/>
        <c:axId val="184320000"/>
      </c:barChart>
      <c:catAx>
        <c:axId val="184312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184320000"/>
        <c:crosses val="autoZero"/>
        <c:auto val="1"/>
        <c:lblAlgn val="ctr"/>
        <c:lblOffset val="100"/>
        <c:noMultiLvlLbl val="1"/>
      </c:catAx>
      <c:valAx>
        <c:axId val="184320000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184312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Safety Margin Near Risky Positions
higher is safer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Safety margin</c:v>
                </c:pt>
              </c:strCache>
            </c:strRef>
          </c:tx>
          <c:spPr>
            <a:solidFill>
              <a:srgbClr val="4C7A3A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Our AI Model</c:v>
                </c:pt>
                <c:pt idx="1">
                  <c:v>Classical Method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1.5299999999999999E-2</c:v>
                </c:pt>
                <c:pt idx="1">
                  <c:v>1.0500000000000001E-2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4DF-4CEB-BA31-61BE5F1EFA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4048640"/>
        <c:axId val="184063872"/>
      </c:barChart>
      <c:catAx>
        <c:axId val="184048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184063872"/>
        <c:crosses val="autoZero"/>
        <c:auto val="1"/>
        <c:lblAlgn val="ctr"/>
        <c:lblOffset val="100"/>
        <c:noMultiLvlLbl val="1"/>
      </c:catAx>
      <c:valAx>
        <c:axId val="18406387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184048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0.66643</cdr:x>
      <cdr:y>0.8125</cdr:y>
    </cdr:from>
    <cdr:to>
      <cdr:x>0.8414</cdr:x>
      <cdr:y>0.87931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3482603" y="2971800"/>
          <a:ext cx="914400" cy="244366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0.69056</cdr:x>
      <cdr:y>0.80603</cdr:y>
    </cdr:from>
    <cdr:to>
      <cdr:x>0.83235</cdr:x>
      <cdr:y>0.87284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3608727" y="2948152"/>
          <a:ext cx="740979" cy="24436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l"/>
          <a:r>
            <a:rPr lang="en-US" sz="1300" b="1" dirty="0" smtClean="0"/>
            <a:t>0.47</a:t>
          </a:r>
          <a:endParaRPr lang="en-US" sz="1300" b="1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7A1A5-072A-4C93-8BFC-6CC24F9996F4}" type="datetimeFigureOut"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779D0-AC3A-4CDC-A59E-A30C590B61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08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Singularity-Aware Physics-Informed</a:t>
            </a:r>
            <a:endParaRPr lang="en-US" sz="3800" dirty="0"/>
          </a:p>
          <a:p>
            <a:pPr marL="0" indent="0" algn="ctr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for Real-Time</a:t>
            </a:r>
            <a:endParaRPr lang="en-US" sz="3800" dirty="0"/>
          </a:p>
          <a:p>
            <a:pPr marL="0" indent="0" algn="ctr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Kinematics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38862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Real-Time Motion Control for Robot Arms Using AI</a:t>
            </a: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E456AC2-4502-495A-3850-7F548A1DE39C}"/>
              </a:ext>
            </a:extLst>
          </p:cNvPr>
          <p:cNvSpPr txBox="1"/>
          <p:nvPr/>
        </p:nvSpPr>
        <p:spPr>
          <a:xfrm>
            <a:off x="981414" y="4983237"/>
            <a:ext cx="414036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BY </a:t>
            </a:r>
            <a:r>
              <a:rPr lang="en-US" b="1">
                <a:ea typeface="Calibri"/>
                <a:cs typeface="Calibri"/>
              </a:rPr>
              <a:t>Group 18:</a:t>
            </a:r>
            <a:endParaRPr lang="en-US" b="1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Team Member 1         Roll No: __________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Team Member 2                     Roll No: __________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Team Member 3</a:t>
            </a:r>
            <a:r>
              <a:rPr lang="en-US">
                <a:ea typeface="Calibri"/>
                <a:cs typeface="Calibri"/>
              </a:rPr>
              <a:t>    Roll No: __________</a:t>
            </a:r>
          </a:p>
          <a:p>
            <a:r>
              <a:rPr lang="en-US">
                <a:ea typeface="Calibri"/>
                <a:cs typeface="Calibri"/>
              </a:rPr>
              <a:t>Team Member 4       Roll No: __________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08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arms are used in factories, hospitals, warehouses, and space missions.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move the arm's hand to a target point, we must find the correct angle for every joint.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calculation is called Inverse Kinematics (IK).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arms have 7 joints — more than the minimum needed — which makes this calculation harder.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892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Point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location in space)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069080" y="5166360"/>
            <a:ext cx="822960" cy="36576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0" y="48920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4892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Angles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 angles, one per joint)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0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Kinematics = solving this direction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Key Terms</a:t>
            </a:r>
            <a:endParaRPr lang="en-US" sz="340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490472"/>
            <a:ext cx="10222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Kinematics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892808"/>
            <a:ext cx="10222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joint angles → calculate where the hand ends up. (The easy direction.)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679192"/>
            <a:ext cx="10222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Kinematics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081528"/>
            <a:ext cx="10222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where we want the hand → find the joint angles. (The hard direction.)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867912"/>
            <a:ext cx="10222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Arm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270248"/>
            <a:ext cx="10222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arm with extra joints — many different angle combinations reach the same point.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5056632"/>
            <a:ext cx="10222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Singularity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5458968"/>
            <a:ext cx="10222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risky arm position where the controller can suddenly demand impossibly fast joint movement.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087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methods can freeze, or move dangerously fast, near singularities.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risks damaging expensive robots or harming people working nearby.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joints mean many solutions exist — plain AI models often blend them into nonsense.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fast, self-checking AI solver could let robots react safely in real time.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9B8ABCE-E412-4487-B935-AE6C0950FD1C}"/>
              </a:ext>
            </a:extLst>
          </p:cNvPr>
          <p:cNvSpPr txBox="1"/>
          <p:nvPr/>
        </p:nvSpPr>
        <p:spPr>
          <a:xfrm>
            <a:off x="276024" y="386434"/>
            <a:ext cx="607253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400" b="1">
                <a:solidFill>
                  <a:srgbClr val="1E2761"/>
                </a:solidFill>
                <a:latin typeface="Arial"/>
                <a:ea typeface="Calibri"/>
                <a:cs typeface="Arial"/>
              </a:rPr>
              <a:t>Problem Statement</a:t>
            </a:r>
            <a:endParaRPr lang="en-US" sz="3400" b="1" dirty="0">
              <a:solidFill>
                <a:srgbClr val="1E276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AE71ABA-9F42-BCE3-241B-AFEE771AC3B6}"/>
              </a:ext>
            </a:extLst>
          </p:cNvPr>
          <p:cNvSpPr txBox="1"/>
          <p:nvPr/>
        </p:nvSpPr>
        <p:spPr>
          <a:xfrm>
            <a:off x="543788" y="1714071"/>
            <a:ext cx="10651635" cy="49488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400">
                <a:solidFill>
                  <a:srgbClr val="000000"/>
                </a:solidFill>
                <a:latin typeface="Arial"/>
                <a:ea typeface="+mn-lt"/>
                <a:cs typeface="Arial"/>
              </a:rPr>
              <a:t>Robot arms can freeze or move dangerously fast when they reach certain risky joint positions, called singularities. Classical control methods struggle to handle these safely — especially in arms with extra joints, which have many possible solutions for reaching the same target point.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>
              <a:buFont typeface="Wingdings"/>
              <a:buChar char="Ø"/>
            </a:pPr>
            <a:endParaRPr lang="en-US" sz="24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marL="342900" indent="-342900">
              <a:buFont typeface="Wingdings"/>
              <a:buChar char="Ø"/>
            </a:pPr>
            <a:endParaRPr lang="en-US" sz="24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marL="342900" indent="-342900">
              <a:buFont typeface="Wingdings"/>
              <a:buChar char="Ø"/>
            </a:pPr>
            <a:endParaRPr lang="en-US" sz="24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b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NEED</a:t>
            </a:r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latin typeface="Arial"/>
                <a:ea typeface="+mn-lt"/>
                <a:cs typeface="Arial"/>
              </a:rPr>
              <a:t/>
            </a:r>
            <a:br>
              <a:rPr lang="en-US" sz="2400" b="1" dirty="0">
                <a:solidFill>
                  <a:schemeClr val="accent1">
                    <a:lumMod val="76000"/>
                  </a:schemeClr>
                </a:solidFill>
                <a:latin typeface="Arial"/>
                <a:ea typeface="+mn-lt"/>
                <a:cs typeface="Arial"/>
              </a:rPr>
            </a:br>
            <a:r>
              <a:rPr lang="en-US" sz="2400" b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 A fast, learning-based method is needed that can reach a target position while automatically staying away from these risky positions — without needing a large labeled dataset to train on.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>
              <a:buFont typeface="Wingdings"/>
              <a:buChar char="Ø"/>
            </a:pPr>
            <a:endParaRPr lang="en-US" sz="2400" b="1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342900" indent="-342900">
              <a:buFont typeface="Wingdings"/>
              <a:buChar char="Ø"/>
            </a:pPr>
            <a:endParaRPr lang="en-US" sz="240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4540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1091672" cy="4572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Author(s)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Journal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Outcomes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Aydogmus &amp; Boztas (2024) [1]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Singularity-free IK for humanoid arm via Bayesian-optimized DNN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Measurement, vol. 229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High accuracy (MAE 0.02); 25ms predictions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Needs ~10B training samples; no explicit singularity-avoidance loss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Deng et al. (2024) [2]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Physics-informed ML model for inverse dynamics in robotic manipulators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Applied Soft Computing, vol. 163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Physics-informed network improves torque prediction on a 7-DOF arm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Solves inverse dynamics (torque), not kinematics; no singularity handling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Calzada-Garcia et al. (2025) [3]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Review: IK, control &amp; planning for manipulators via DNNs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Algorithms, vol. 18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Surveys 5 years of DNN-based IK methods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Review only — no new singularity-safe solver proposed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Shi et al. (2021) [4]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Kinematics and singularity analysis of a 7-DOF redundant manipulator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Sensors, vol. 21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Closed-form singularity conditions for a 7-DOF arm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Purely analytical; no learning-based real-time solver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Hong, Li &amp; Huang (2024) [5]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RL-enhanced pseudo-inverse for self-collision avoidance of redundant robots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Frontiers in Neurorobotics, vol. 18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99.72% success avoiding self-collision on a 7-DOF Franka Panda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Targets self-collision, not singularity / manipulability safety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in Literature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087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learning-based IK methods have no explicit rule to avoid singularities.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learning has been used for torque prediction, not singularity-safe kinematics.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singularity analysis is accurate but not learning-based or adaptive.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reviewed work combines all three — training, joint limits, and singularity safety — in one model.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Simulated Arm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computer model of a 7-joint robot arm that can be learned from.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395728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AI Model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71600" y="2761488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neural network that predicts safe joint movements.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328416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Three Safety Rules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71600" y="3694176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target, respect joint limits, and avoid risky positions.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261104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Tradition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71600" y="462686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the AI model against a classical numerical solver.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239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519379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and Fix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371600" y="5559552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and fix real problems uncovered during training.</a:t>
            </a:r>
            <a:endParaRPr lang="en-US" sz="1600" dirty="0"/>
          </a:p>
        </p:txBody>
      </p:sp>
      <p:pic>
        <p:nvPicPr>
          <p:cNvPr id="2050" name="Picture 2" descr="FRANKA EMIKA Panda Robot: Summa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696" y="2281010"/>
            <a:ext cx="4051627" cy="405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815998" cy="1188720"/>
          </a:xfrm>
          <a:prstGeom prst="roundRect">
            <a:avLst>
              <a:gd name="adj" fmla="val 6154"/>
            </a:avLst>
          </a:prstGeom>
          <a:solidFill>
            <a:srgbClr val="EEF1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8159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366" y="2743200"/>
            <a:ext cx="420624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2913278" y="2286000"/>
            <a:ext cx="1815998" cy="1188720"/>
          </a:xfrm>
          <a:prstGeom prst="roundRect">
            <a:avLst>
              <a:gd name="adj" fmla="val 6154"/>
            </a:avLst>
          </a:prstGeom>
          <a:solidFill>
            <a:srgbClr val="EEF1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13278" y="2286000"/>
            <a:ext cx="18159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(uses current pose)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47565" y="2743200"/>
            <a:ext cx="420624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5186477" y="2286000"/>
            <a:ext cx="1815998" cy="1188720"/>
          </a:xfrm>
          <a:prstGeom prst="roundRect">
            <a:avLst>
              <a:gd name="adj" fmla="val 6154"/>
            </a:avLst>
          </a:prstGeom>
          <a:solidFill>
            <a:srgbClr val="EEF1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6477" y="2286000"/>
            <a:ext cx="18159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Angles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20763" y="2743200"/>
            <a:ext cx="420624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59675" y="2286000"/>
            <a:ext cx="181599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9675" y="2286000"/>
            <a:ext cx="18159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93962" y="2743200"/>
            <a:ext cx="420624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9732874" y="2286000"/>
            <a:ext cx="1815998" cy="1188720"/>
          </a:xfrm>
          <a:prstGeom prst="roundRect">
            <a:avLst>
              <a:gd name="adj" fmla="val 6154"/>
            </a:avLst>
          </a:prstGeom>
          <a:solidFill>
            <a:srgbClr val="EEF1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2874" y="2286000"/>
            <a:ext cx="18159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Arm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looks at where the arm is right now, then predicts a small, safe movement toward the target — instead of guessing a brand-new pose from scratch.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Keep It Safe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Target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2148840"/>
            <a:ext cx="10085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predicted hand position should end up close to the goal point.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Joint Limits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3566160"/>
            <a:ext cx="10085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joint should twist past its safe mechanical range.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52628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Risky Positions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4983480"/>
            <a:ext cx="10085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is discouraged from moving into “locked”, high-risk configurations.</a:t>
            </a:r>
            <a:endParaRPr lang="en-US" sz="1800" dirty="0"/>
          </a:p>
        </p:txBody>
      </p:sp>
      <p:pic>
        <p:nvPicPr>
          <p:cNvPr id="1027" name="Picture 3" descr="C:\Users\gkama\OneDrive\Pictures\Screenshots\Screenshot 2026-08-17 145835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482"/>
          <a:stretch/>
        </p:blipFill>
        <p:spPr bwMode="auto">
          <a:xfrm>
            <a:off x="8339459" y="2537460"/>
            <a:ext cx="3702768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So Far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087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simulated 7-joint robot arm (Franka Panda) that a computer can move and measure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traditional (classical) solver, used as a fair comparison baseline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model itself — the physics-informed neural network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training system that generates its own practice examples — no manual dataset needed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testing and comparison system to measure accuracy and safety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Debugging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didn’t just build it — we tested it and found real problems.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103120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496312"/>
            <a:ext cx="10131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math error in how arm sensitivity was calculated — caught by cross-checking against an independent method, then fixed.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3474720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867912"/>
            <a:ext cx="10131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training examples asked the AI to do something physically impossible for it — found by analyzing results, then fixed.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4846320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5239512"/>
            <a:ext cx="10131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“avoid risky positions” rule was barely active because its safety threshold was set too strictly — found and fixed.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Results: Training Progress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1090879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dropped steadily and kept improving as training continued (10,000 steps shown).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Results: AI vs Traditional Method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984157361"/>
              </p:ext>
            </p:extLst>
          </p:nvPr>
        </p:nvGraphicFramePr>
        <p:xfrm>
          <a:off x="640080" y="1600200"/>
          <a:ext cx="5225796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323076" y="1600200"/>
          <a:ext cx="5225796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5440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model is already safer near risky positions — accuracy is still catching up with more training.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 &amp; Next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087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still trails the traditional method — needs more training and a bigger network.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connected to a 3D physics simulator for visual demonstration.</a:t>
            </a:r>
            <a:endParaRPr lang="en-US" sz="2400" dirty="0"/>
          </a:p>
          <a:p>
            <a:pPr marL="342900" indent="-342900">
              <a:lnSpc>
                <a:spcPts val="320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longer training runs, a bigger network, and simulator integration for a live demo.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2179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 O. Aydogmus and G. Boztas, “Implementation of singularity-free inverse kinematics for humanoid robotic arm using Bayesian optimized deep neural network,” Measurement, vol. 229, p. 114471, 2024.</a:t>
            </a:r>
            <a:endParaRPr lang="en-US" sz="1400" dirty="0"/>
          </a:p>
          <a:p>
            <a:pPr marL="0" indent="0">
              <a:lnSpc>
                <a:spcPts val="18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 W. Deng, F. Ardiani, K. T. P. Nguyen, M. Benoussaad, and K. Medjaher, “Physics informed machine learning model for inverse dynamics in robotic manipulators,” Applied Soft Computing, vol. 163, p. 111877, 2024.</a:t>
            </a:r>
            <a:endParaRPr lang="en-US" sz="1400" dirty="0"/>
          </a:p>
          <a:p>
            <a:pPr marL="0" indent="0">
              <a:lnSpc>
                <a:spcPts val="18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 A. Calzada-Garcia, J. G. Victores, F. J. Naranjo-Campos, and C. Balaguer, “A review on inverse kinematics, control and planning for robotic manipulators with and without obstacles via deep neural networks,” Algorithms, vol. 18, no. 1, p. 23, 2025.</a:t>
            </a:r>
            <a:endParaRPr lang="en-US" sz="1400" dirty="0"/>
          </a:p>
          <a:p>
            <a:pPr marL="0" indent="0">
              <a:lnSpc>
                <a:spcPts val="18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 X. Shi, Y. Guo, X. Chen, Z. Chen, and Z. Yang, “Kinematics and singularity analysis of a 7-DOF redundant manipulator,” Sensors, vol. 21, no. 21, 2021.</a:t>
            </a:r>
            <a:endParaRPr lang="en-US" sz="1400" dirty="0"/>
          </a:p>
          <a:p>
            <a:pPr marL="0" indent="0">
              <a:lnSpc>
                <a:spcPts val="18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 T. Hong, W. Li, and K. Huang, “A reinforcement learning enhanced pseudo-inverse approach to self-collision avoidance of redundant robots,” Frontiers in Neurorobotics, vol. 18, 2024</a:t>
            </a:r>
            <a:r>
              <a:rPr lang="en-US" sz="1400" dirty="0" smtClean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1800"/>
              </a:lnSpc>
              <a:spcAft>
                <a:spcPts val="1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 Y. Nakamura and H.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Hanafusa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“Inverse kinematic solutions with singularity robustness for robot manipulator control,” Journal of Dynamic Systems, Measurement, and Control, vol. 108, no. 3, pp. 163–171, 1986.</a:t>
            </a:r>
            <a:endParaRPr lang="en-US" sz="1400" dirty="0"/>
          </a:p>
          <a:p>
            <a:pPr marL="0" indent="0">
              <a:lnSpc>
                <a:spcPts val="1800"/>
              </a:lnSpc>
              <a:spcAft>
                <a:spcPts val="16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1343</Words>
  <Application>Microsoft Office PowerPoint</Application>
  <PresentationFormat>Custom</PresentationFormat>
  <Paragraphs>170</Paragraphs>
  <Slides>17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 k</cp:lastModifiedBy>
  <cp:revision>68</cp:revision>
  <dcterms:created xsi:type="dcterms:W3CDTF">2026-08-16T10:15:58Z</dcterms:created>
  <dcterms:modified xsi:type="dcterms:W3CDTF">2026-08-17T09:48:37Z</dcterms:modified>
</cp:coreProperties>
</file>